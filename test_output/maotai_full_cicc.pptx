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41E3A"/>
                </a:solidFill>
                <a:latin typeface="Noto Sans CJK SC"/>
              </a:defRPr>
            </a:pPr>
            <a:r>
              <a:t>贵州茅台 (600519) 深度研究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0000"/>
                </a:solidFill>
                <a:latin typeface="Noto Sans CJK SC"/>
              </a:defRPr>
            </a:pPr>
            <a:r>
              <a:t>白酒/消费 | 评级：买入 | 目标价：¥1,800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FinRobot AI Research  | 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核心财务指标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5156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308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86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Noto Sans CJK SC"/>
              </a:defRPr>
            </a:pPr>
            <a:r>
              <a:t>¥1,709亿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86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营业收入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86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0000"/>
                </a:solidFill>
                <a:latin typeface="Noto Sans CJK SC"/>
              </a:defRPr>
            </a:pPr>
            <a:r>
              <a:t>+15.7%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6720" y="1645920"/>
            <a:ext cx="32308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1920240"/>
            <a:ext cx="286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Noto Sans CJK SC"/>
              </a:defRPr>
            </a:pPr>
            <a:r>
              <a:t>¥1,197亿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2651760"/>
            <a:ext cx="286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3017520"/>
            <a:ext cx="286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0000"/>
                </a:solidFill>
                <a:latin typeface="Noto Sans CJK SC"/>
              </a:defRPr>
            </a:pPr>
            <a:r>
              <a:t>+15.5%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1920" y="1645920"/>
            <a:ext cx="32308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0" y="1920240"/>
            <a:ext cx="286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Noto Sans CJK SC"/>
              </a:defRPr>
            </a:pPr>
            <a:r>
              <a:t>¥862亿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2651760"/>
            <a:ext cx="286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净利润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0" y="3017520"/>
            <a:ext cx="286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0000"/>
                </a:solidFill>
                <a:latin typeface="Noto Sans CJK SC"/>
              </a:defRPr>
            </a:pPr>
            <a:r>
              <a:t>+15.4%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2308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286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Noto Sans CJK SC"/>
              </a:defRPr>
            </a:pPr>
            <a:r>
              <a:t>68.64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86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286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0000"/>
                </a:solidFill>
                <a:latin typeface="Noto Sans CJK SC"/>
              </a:defRPr>
            </a:pPr>
            <a:r>
              <a:t>+15.4%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6720" y="3931920"/>
            <a:ext cx="32308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9600" y="4206240"/>
            <a:ext cx="286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Noto Sans CJK SC"/>
              </a:defRPr>
            </a:pPr>
            <a:r>
              <a:t>36.0%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0" y="4937760"/>
            <a:ext cx="286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ROE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5303520"/>
            <a:ext cx="286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900"/>
                </a:solidFill>
                <a:latin typeface="Noto Sans CJK SC"/>
              </a:defRPr>
            </a:pPr>
            <a:r>
              <a:t>-1.2%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41920" y="3931920"/>
            <a:ext cx="32308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4800" y="4206240"/>
            <a:ext cx="286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Noto Sans CJK SC"/>
              </a:defRPr>
            </a:pPr>
            <a:r>
              <a:t>91.9%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0" y="4937760"/>
            <a:ext cx="286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毛利率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4800" y="5303520"/>
            <a:ext cx="286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0000"/>
                </a:solidFill>
                <a:latin typeface="Noto Sans CJK SC"/>
              </a:defRPr>
            </a:pPr>
            <a:r>
              <a:t>+0.1%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投资要点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公司概况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5156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Noto Sans CJK SC"/>
              </a:defRPr>
            </a:pPr>
            <a:r>
              <a:t>贵州茅台是中国领先的白酒制造企业，以高端酱香型白酒闻名。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品牌价值全球领先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毛利率91.9%，行业最高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年产能稳步扩张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Noto Sans CJK SC"/>
              </a:defRPr>
            </a:pPr>
            <a:r>
              <a:t>  •  渠道改革成效显著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优势 vs 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5156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Noto Sans CJK SC"/>
              </a:defRPr>
            </a:pPr>
            <a:r>
              <a:t>✅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品牌护城河极深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毛利率91.9%远超同行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提价能力强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现金流充沛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0000"/>
                </a:solidFill>
                <a:latin typeface="Noto Sans CJK SC"/>
              </a:defRPr>
            </a:pPr>
            <a:r>
              <a:t>⚠️ 主要风险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消费降级压力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政策限酒风险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管理层变动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Noto Sans CJK SC"/>
              </a:defRPr>
            </a:pPr>
            <a:r>
              <a:t>▸ 竞争加剧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财务数据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2024A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2023A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2022A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2021A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营收(亿)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1709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1477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1241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1062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净利润(亿)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862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747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627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525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68.64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59.49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49.93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41.76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EBITDA利润率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70.2%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70.8%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70.4%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92.0%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Noto Sans CJK SC"/>
                        </a:defRPr>
                      </a:pPr>
                      <a:r>
                        <a:t>91.5%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Noto Sans CJK SC"/>
              </a:defRPr>
            </a:pPr>
            <a:r>
              <a:t>发展里程碑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332720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56232" y="3584448"/>
            <a:ext cx="182880" cy="1828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0472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1E3A"/>
                </a:solidFill>
                <a:latin typeface="Noto Sans CJK SC"/>
              </a:defRPr>
            </a:pPr>
            <a:r>
              <a:t>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393192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Noto Sans CJK SC"/>
              </a:defRPr>
            </a:pPr>
            <a:r>
              <a:t>营收突破千亿</a:t>
            </a:r>
          </a:p>
        </p:txBody>
      </p:sp>
      <p:sp>
        <p:nvSpPr>
          <p:cNvPr id="8" name="Oval 7"/>
          <p:cNvSpPr/>
          <p:nvPr/>
        </p:nvSpPr>
        <p:spPr>
          <a:xfrm>
            <a:off x="3922776" y="3584448"/>
            <a:ext cx="182880" cy="1828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1E3A"/>
                </a:solidFill>
                <a:latin typeface="Noto Sans CJK SC"/>
              </a:defRPr>
            </a:pPr>
            <a: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6" y="393192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Noto Sans CJK SC"/>
              </a:defRPr>
            </a:pPr>
            <a:r>
              <a:t>i茅台上线</a:t>
            </a:r>
          </a:p>
        </p:txBody>
      </p:sp>
      <p:sp>
        <p:nvSpPr>
          <p:cNvPr id="11" name="Oval 10"/>
          <p:cNvSpPr/>
          <p:nvPr/>
        </p:nvSpPr>
        <p:spPr>
          <a:xfrm>
            <a:off x="5989320" y="3584448"/>
            <a:ext cx="182880" cy="1828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1E3A"/>
                </a:solidFill>
                <a:latin typeface="Noto Sans CJK SC"/>
              </a:defRPr>
            </a:pPr>
            <a: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93192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Noto Sans CJK SC"/>
              </a:defRPr>
            </a:pPr>
            <a:r>
              <a:t>提价策略</a:t>
            </a:r>
          </a:p>
        </p:txBody>
      </p:sp>
      <p:sp>
        <p:nvSpPr>
          <p:cNvPr id="14" name="Oval 13"/>
          <p:cNvSpPr/>
          <p:nvPr/>
        </p:nvSpPr>
        <p:spPr>
          <a:xfrm>
            <a:off x="8055864" y="3584448"/>
            <a:ext cx="182880" cy="1828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0104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1E3A"/>
                </a:solidFill>
                <a:latin typeface="Noto Sans CJK SC"/>
              </a:defRPr>
            </a:pPr>
            <a: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224" y="393192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Noto Sans CJK SC"/>
              </a:defRPr>
            </a:pPr>
            <a:r>
              <a:t>营收1709亿</a:t>
            </a:r>
          </a:p>
        </p:txBody>
      </p:sp>
      <p:sp>
        <p:nvSpPr>
          <p:cNvPr id="17" name="Oval 16"/>
          <p:cNvSpPr/>
          <p:nvPr/>
        </p:nvSpPr>
        <p:spPr>
          <a:xfrm>
            <a:off x="10122408" y="3584448"/>
            <a:ext cx="182880" cy="1828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41E3A"/>
                </a:solidFill>
                <a:latin typeface="Noto Sans CJK SC"/>
              </a:defRPr>
            </a:pPr>
            <a:r>
              <a:t>2025E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3931920"/>
            <a:ext cx="1280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Noto Sans CJK SC"/>
              </a:defRPr>
            </a:pPr>
            <a:r>
              <a:t>国际化布局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0">
                <a:solidFill>
                  <a:srgbClr val="8B0000"/>
                </a:solidFill>
                <a:latin typeface="Noto Sans CJK SC"/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Noto Sans CJK SC"/>
              </a:defRPr>
            </a:pPr>
            <a:r>
              <a:t>茅台是中国白酒行业的标杆，其品牌价值和盈利能力在全球消费品行业中都属顶尖水平。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8B0000"/>
                </a:solidFill>
                <a:latin typeface="Noto Sans CJK SC"/>
              </a:defRPr>
            </a:pPr>
            <a:r>
              <a:t>— FinRobot AI, 2024年度研究报告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投资建议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评级：买入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目标价：¥1,800（上行空间23%）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核心逻辑：品牌壁垒 + 提价能力 + 国际化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CJK SC"/>
              </a:defRPr>
            </a:pPr>
            <a:r>
              <a:t>✓  风险提示：消费降级、政策、竞争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CJK SC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0000"/>
                </a:solidFill>
                <a:latin typeface="Noto Sans CJK SC"/>
              </a:defRPr>
            </a:pPr>
            <a:r>
              <a:t>FinRobot AI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github.com/guyiicn/FinRobot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